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04" r:id="rId4"/>
    <p:sldId id="259" r:id="rId5"/>
    <p:sldId id="270" r:id="rId6"/>
    <p:sldId id="262" r:id="rId7"/>
    <p:sldId id="311" r:id="rId8"/>
    <p:sldId id="312" r:id="rId9"/>
    <p:sldId id="263" r:id="rId10"/>
    <p:sldId id="264" r:id="rId11"/>
    <p:sldId id="316" r:id="rId12"/>
    <p:sldId id="317" r:id="rId13"/>
    <p:sldId id="307" r:id="rId14"/>
    <p:sldId id="308" r:id="rId15"/>
    <p:sldId id="266" r:id="rId16"/>
    <p:sldId id="318" r:id="rId17"/>
    <p:sldId id="319" r:id="rId18"/>
    <p:sldId id="320" r:id="rId19"/>
    <p:sldId id="296" r:id="rId20"/>
    <p:sldId id="26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7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ARIMA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1270</c:v>
                </c:pt>
                <c:pt idx="1">
                  <c:v>3017151</c:v>
                </c:pt>
                <c:pt idx="2">
                  <c:v>2862026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1E-49F1-AB44-7F279A24FF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761" y="2100928"/>
            <a:ext cx="8104239" cy="18614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Pharmaceutical stores sale prediction using Time series</a:t>
            </a:r>
            <a:b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(Project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6</a:t>
            </a:r>
            <a:r>
              <a:rPr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4331"/>
            <a:ext cx="6400800" cy="803787"/>
          </a:xfrm>
        </p:spPr>
        <p:txBody>
          <a:bodyPr/>
          <a:lstStyle/>
          <a:p>
            <a:r>
              <a:rPr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Prepared by Bhanwar Singh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2E38A-3140-1E3B-A2B7-33F0991748D1}"/>
              </a:ext>
            </a:extLst>
          </p:cNvPr>
          <p:cNvSpPr txBox="1"/>
          <p:nvPr/>
        </p:nvSpPr>
        <p:spPr>
          <a:xfrm>
            <a:off x="904567" y="635098"/>
            <a:ext cx="7344697" cy="964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>
              <a:spcBef>
                <a:spcPct val="0"/>
              </a:spcBef>
              <a:buNone/>
              <a:defRPr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Rossmann Sales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116" y="1282444"/>
            <a:ext cx="8229600" cy="182880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Objective: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Predict store sales for next 6 weeks</a:t>
            </a:r>
          </a:p>
          <a:p>
            <a:pPr marL="0" indent="0">
              <a:buNone/>
            </a:pPr>
            <a:r>
              <a:rPr lang="en-US" dirty="0"/>
              <a:t>using random forest and time series.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2116" y="2951469"/>
            <a:ext cx="7885471" cy="1011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Methodology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3854244"/>
            <a:ext cx="8229600" cy="3143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Data Collection</a:t>
            </a:r>
          </a:p>
          <a:p>
            <a:r>
              <a:rPr lang="en-US"/>
              <a:t>EDA &amp; Cleaning</a:t>
            </a:r>
          </a:p>
          <a:p>
            <a:r>
              <a:rPr lang="en-US"/>
              <a:t>Feature Engineering</a:t>
            </a:r>
          </a:p>
          <a:p>
            <a:r>
              <a:rPr lang="en-US"/>
              <a:t>Model Training</a:t>
            </a:r>
          </a:p>
          <a:p>
            <a:r>
              <a:rPr lang="en-US"/>
              <a:t>Streamlit  and Deployment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664"/>
            <a:ext cx="8229600" cy="1143000"/>
          </a:xfrm>
        </p:spPr>
        <p:txBody>
          <a:bodyPr/>
          <a:lstStyle/>
          <a:p>
            <a:r>
              <a:rPr dirty="0"/>
              <a:t>Notebook 1 —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2612"/>
            <a:ext cx="8229600" cy="4525963"/>
          </a:xfrm>
        </p:spPr>
        <p:txBody>
          <a:bodyPr/>
          <a:lstStyle/>
          <a:p>
            <a:r>
              <a:rPr dirty="0"/>
              <a:t>Data cleaning</a:t>
            </a:r>
          </a:p>
          <a:p>
            <a:r>
              <a:rPr dirty="0"/>
              <a:t>Missing value handling</a:t>
            </a:r>
          </a:p>
          <a:p>
            <a:r>
              <a:rPr dirty="0"/>
              <a:t>Date features</a:t>
            </a:r>
          </a:p>
          <a:p>
            <a:r>
              <a:rPr dirty="0"/>
              <a:t>Created processed datasets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303258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Key Insights from EDA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26026" y="4038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Promotions strongly uplift sales</a:t>
            </a:r>
          </a:p>
          <a:p>
            <a:r>
              <a:rPr lang="en-US"/>
              <a:t>Holiday periods drive spikes</a:t>
            </a:r>
          </a:p>
          <a:p>
            <a:r>
              <a:rPr lang="en-US"/>
              <a:t>Competition distance matters</a:t>
            </a:r>
          </a:p>
          <a:p>
            <a:r>
              <a:rPr lang="en-US"/>
              <a:t>Clear weekly &amp; seasonal patterns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16FACB-A494-CE2B-B3DA-DD27E7E07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1" y="655598"/>
            <a:ext cx="7098890" cy="55468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E9387D-D724-E239-EEF3-F1F38BDED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42" y="961680"/>
            <a:ext cx="7088171" cy="519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63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 2 —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Feature-based ML model</a:t>
            </a:r>
          </a:p>
          <a:p>
            <a:r>
              <a:t>Handled non-linear patterns</a:t>
            </a:r>
          </a:p>
          <a:p>
            <a:r>
              <a:t>Best MAE &amp; RMSE</a:t>
            </a:r>
          </a:p>
          <a:p>
            <a:r>
              <a:t>Chosen final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98C74F-F442-EE42-1E8F-69D9E1E55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8" y="875071"/>
            <a:ext cx="8735644" cy="4683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C0A77A-904E-BBC9-3F97-448AA6EC4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984" y="5708642"/>
            <a:ext cx="322942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4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C44F48-A501-8E5A-A1D4-2B0B4AF20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67" y="942751"/>
            <a:ext cx="8561739" cy="505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58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 3 — ARIMA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series forecasting</a:t>
            </a:r>
          </a:p>
          <a:p>
            <a:r>
              <a:t>ADF stationarity test</a:t>
            </a:r>
          </a:p>
          <a:p>
            <a:r>
              <a:t>Modeled trend &amp; seasonality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D5F7E-2A10-70DD-05FB-E389D9FE6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44" y="3585018"/>
            <a:ext cx="6223819" cy="2820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 4 — 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model</a:t>
            </a:r>
          </a:p>
          <a:p>
            <a:r>
              <a:t>Sequence learning</a:t>
            </a:r>
          </a:p>
          <a:p>
            <a:r>
              <a:t>Compared with RF &amp; ARIMA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1B5AC-6445-4BDA-959E-61C9EE286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89" y="563011"/>
            <a:ext cx="6992326" cy="2762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A64DCC-F522-126D-4DFD-79226660C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89" y="3408511"/>
            <a:ext cx="6496957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1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F6EEE-9B0F-DDA8-C5D3-43920681A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9545"/>
            <a:ext cx="9144000" cy="415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07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78" y="85032"/>
            <a:ext cx="8229600" cy="1143000"/>
          </a:xfrm>
        </p:spPr>
        <p:txBody>
          <a:bodyPr/>
          <a:lstStyle/>
          <a:p>
            <a:r>
              <a:rPr dirty="0"/>
              <a:t>Models Explored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522" y="1028698"/>
            <a:ext cx="8229600" cy="4525963"/>
          </a:xfrm>
        </p:spPr>
        <p:txBody>
          <a:bodyPr/>
          <a:lstStyle/>
          <a:p>
            <a:r>
              <a:rPr dirty="0"/>
              <a:t>Random Forest (ML)</a:t>
            </a:r>
          </a:p>
          <a:p>
            <a:r>
              <a:rPr dirty="0"/>
              <a:t>ARIMA (Time Series)</a:t>
            </a:r>
          </a:p>
          <a:p>
            <a:r>
              <a:rPr dirty="0"/>
              <a:t>LSTM (Deep Learning)</a:t>
            </a:r>
          </a:p>
          <a:p>
            <a:r>
              <a:rPr dirty="0"/>
              <a:t>Compared </a:t>
            </a:r>
            <a:r>
              <a:rPr lang="en-US" dirty="0"/>
              <a:t>using </a:t>
            </a:r>
            <a:r>
              <a:rPr dirty="0"/>
              <a:t>RMSE &amp; MAE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24349" y="443468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Lowest validation error (RMSE)</a:t>
            </a:r>
          </a:p>
          <a:p>
            <a:r>
              <a:rPr lang="en-US"/>
              <a:t>Captures non‑linear effects</a:t>
            </a:r>
          </a:p>
          <a:p>
            <a:r>
              <a:rPr lang="en-US"/>
              <a:t>Uses rich business features</a:t>
            </a:r>
          </a:p>
          <a:p>
            <a:r>
              <a:rPr lang="en-US"/>
              <a:t>Stable &amp; interpretable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9265" y="33116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Why Random Forest used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</a:t>
            </a:r>
            <a:r>
              <a:rPr dirty="0"/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→ </a:t>
            </a:r>
            <a:r>
              <a:rPr dirty="0" err="1"/>
              <a:t>Streamlit</a:t>
            </a:r>
            <a:r>
              <a:rPr dirty="0"/>
              <a:t> UI</a:t>
            </a:r>
          </a:p>
          <a:p>
            <a:r>
              <a:rPr dirty="0" err="1"/>
              <a:t>Streamlit</a:t>
            </a:r>
            <a:r>
              <a:rPr dirty="0"/>
              <a:t> → ML Model</a:t>
            </a:r>
          </a:p>
          <a:p>
            <a:r>
              <a:rPr dirty="0"/>
              <a:t>Model → Predictions</a:t>
            </a:r>
          </a:p>
          <a:p>
            <a:r>
              <a:rPr dirty="0"/>
              <a:t>Predictions → Visualization &amp; Download</a:t>
            </a:r>
            <a:r>
              <a:rPr lang="en-US" dirty="0"/>
              <a:t> </a:t>
            </a:r>
          </a:p>
          <a:p>
            <a:r>
              <a:rPr lang="en-IN" dirty="0"/>
              <a:t>Charts &amp; CSV Export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E530BC-BB44-A48E-529A-56F4EFAB6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487807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Streamlit App (Screenshot)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977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50DD8E-1155-B468-5CC2-BDA17606C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5601"/>
            <a:ext cx="9144000" cy="462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14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B3F97B-F38C-1B16-44CB-302E49DCA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24"/>
            <a:ext cx="9144000" cy="4850751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4939975"/>
            <a:ext cx="8229600" cy="18288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CSV upload</a:t>
            </a:r>
          </a:p>
          <a:p>
            <a:r>
              <a:rPr lang="en-US" dirty="0"/>
              <a:t>Forecast chart</a:t>
            </a:r>
          </a:p>
          <a:p>
            <a:r>
              <a:rPr lang="en-US" dirty="0"/>
              <a:t>Download predictions</a:t>
            </a:r>
          </a:p>
        </p:txBody>
      </p:sp>
    </p:spTree>
    <p:extLst>
      <p:ext uri="{BB962C8B-B14F-4D97-AF65-F5344CB8AC3E}">
        <p14:creationId xmlns:p14="http://schemas.microsoft.com/office/powerpoint/2010/main" val="2536890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955"/>
            <a:ext cx="8229600" cy="11430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956"/>
            <a:ext cx="8229600" cy="556997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1F1F1F"/>
                </a:solidFill>
                <a:latin typeface="Google Sans Text"/>
              </a:rPr>
              <a:t>Sales exhibit strong temporal and non-linear patterns.</a:t>
            </a:r>
          </a:p>
          <a:p>
            <a:r>
              <a:rPr lang="en-US" dirty="0">
                <a:solidFill>
                  <a:srgbClr val="1F1F1F"/>
                </a:solidFill>
                <a:latin typeface="Google Sans Text"/>
              </a:rPr>
              <a:t>LSTM captures sequential dependencies better than ARIMA.</a:t>
            </a:r>
          </a:p>
          <a:p>
            <a:r>
              <a:rPr lang="en-US" dirty="0">
                <a:solidFill>
                  <a:srgbClr val="1F1F1F"/>
                </a:solidFill>
                <a:latin typeface="Google Sans Text"/>
              </a:rPr>
              <a:t>Random Forest remains competitive due to external features.</a:t>
            </a:r>
            <a:endParaRPr lang="en-US" altLang="en-US" dirty="0">
              <a:solidFill>
                <a:srgbClr val="1F1F1F"/>
              </a:solidFill>
              <a:latin typeface="Google Sans Text"/>
            </a:endParaRPr>
          </a:p>
          <a:p>
            <a:r>
              <a:rPr lang="en-US" altLang="en-US" dirty="0">
                <a:solidFill>
                  <a:srgbClr val="1F1F1F"/>
                </a:solidFill>
                <a:latin typeface="Google Sans Text"/>
              </a:rPr>
              <a:t>Sales show strong weekly seasonality.</a:t>
            </a:r>
          </a:p>
          <a:p>
            <a:r>
              <a:rPr lang="en-US" altLang="en-US" dirty="0">
                <a:solidFill>
                  <a:srgbClr val="1F1F1F"/>
                </a:solidFill>
                <a:latin typeface="Google Sans Text"/>
              </a:rPr>
              <a:t>Series was non-stationary; differencing fixed it.</a:t>
            </a:r>
          </a:p>
          <a:p>
            <a:r>
              <a:rPr lang="en-US" altLang="en-US" dirty="0">
                <a:solidFill>
                  <a:srgbClr val="1F1F1F"/>
                </a:solidFill>
                <a:latin typeface="Google Sans Text"/>
              </a:rPr>
              <a:t>ARIMA performed better than naive baseline.</a:t>
            </a:r>
          </a:p>
          <a:p>
            <a:r>
              <a:rPr lang="en-US" altLang="en-US" dirty="0">
                <a:solidFill>
                  <a:srgbClr val="1F1F1F"/>
                </a:solidFill>
                <a:latin typeface="Google Sans Text"/>
              </a:rPr>
              <a:t>Model captures trend but struggles with sudden spikes.</a:t>
            </a:r>
          </a:p>
          <a:p>
            <a:r>
              <a:rPr lang="en-US" altLang="en-US" dirty="0">
                <a:solidFill>
                  <a:srgbClr val="1F1F1F"/>
                </a:solidFill>
                <a:latin typeface="Google Sans Text"/>
              </a:rPr>
              <a:t>This justifies moving to ML/LSTM for better performance</a:t>
            </a:r>
          </a:p>
          <a:p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72AF8ED-E9EF-A032-4EC3-0F2E874BA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71019" y="3617247"/>
            <a:ext cx="184731" cy="7296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9350" rIns="91440" bIns="793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091BA8-6CFC-F874-5047-290027808B38}"/>
              </a:ext>
            </a:extLst>
          </p:cNvPr>
          <p:cNvSpPr/>
          <p:nvPr/>
        </p:nvSpPr>
        <p:spPr>
          <a:xfrm>
            <a:off x="1625072" y="2603541"/>
            <a:ext cx="5893855" cy="110799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4987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280</Words>
  <Application>Microsoft Office PowerPoint</Application>
  <PresentationFormat>On-screen Show (4:3)</PresentationFormat>
  <Paragraphs>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Google Sans Text</vt:lpstr>
      <vt:lpstr>Office Theme</vt:lpstr>
      <vt:lpstr>Pharmaceutical stores sale prediction using Time series (Project 6)</vt:lpstr>
      <vt:lpstr>Project Overview</vt:lpstr>
      <vt:lpstr>Notebook 1 — EDA</vt:lpstr>
      <vt:lpstr>PowerPoint Presentation</vt:lpstr>
      <vt:lpstr>PowerPoint Presentation</vt:lpstr>
      <vt:lpstr>Notebook 2 — Random Forest</vt:lpstr>
      <vt:lpstr>PowerPoint Presentation</vt:lpstr>
      <vt:lpstr>PowerPoint Presentation</vt:lpstr>
      <vt:lpstr>Notebook 3 — ARIMA</vt:lpstr>
      <vt:lpstr>Notebook 4 — LSTM</vt:lpstr>
      <vt:lpstr>PowerPoint Presentation</vt:lpstr>
      <vt:lpstr>PowerPoint Presentation</vt:lpstr>
      <vt:lpstr>Models Explored</vt:lpstr>
      <vt:lpstr>Model Performance</vt:lpstr>
      <vt:lpstr>Deployment Architecture Diagram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Bhanwar Singh Rathore</cp:lastModifiedBy>
  <cp:revision>46</cp:revision>
  <dcterms:created xsi:type="dcterms:W3CDTF">2013-01-27T09:14:16Z</dcterms:created>
  <dcterms:modified xsi:type="dcterms:W3CDTF">2026-02-15T18:31:02Z</dcterms:modified>
  <cp:category/>
</cp:coreProperties>
</file>